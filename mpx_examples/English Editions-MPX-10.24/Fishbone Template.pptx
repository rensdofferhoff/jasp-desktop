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52" r:id="rId1"/>
  </p:sldMasterIdLst>
  <p:notesMasterIdLst>
    <p:notesMasterId r:id="rId4"/>
  </p:notesMasterIdLst>
  <p:handoutMasterIdLst>
    <p:handoutMasterId r:id="rId5"/>
  </p:handoutMasterIdLst>
  <p:sldIdLst>
    <p:sldId id="583" r:id="rId2"/>
    <p:sldId id="581" r:id="rId3"/>
  </p:sldIdLst>
  <p:sldSz cx="9144000" cy="6858000" type="screen4x3"/>
  <p:notesSz cx="6769100" cy="9906000"/>
  <p:defaultTextStyle>
    <a:defPPr>
      <a:defRPr lang="en-GB"/>
    </a:defPPr>
    <a:lvl1pPr algn="l" rtl="0" eaLnBrk="0" fontAlgn="base" hangingPunct="0">
      <a:spcBef>
        <a:spcPct val="20000"/>
      </a:spcBef>
      <a:spcAft>
        <a:spcPct val="0"/>
      </a:spcAft>
      <a:buClr>
        <a:srgbClr val="ED7A00"/>
      </a:buClr>
      <a:buSzPct val="80000"/>
      <a:buFont typeface="Times New Roman" panose="02020603050405020304" pitchFamily="18" charset="0"/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20000"/>
      </a:spcBef>
      <a:spcAft>
        <a:spcPct val="0"/>
      </a:spcAft>
      <a:buClr>
        <a:srgbClr val="ED7A00"/>
      </a:buClr>
      <a:buSzPct val="80000"/>
      <a:buFont typeface="Times New Roman" panose="02020603050405020304" pitchFamily="18" charset="0"/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20000"/>
      </a:spcBef>
      <a:spcAft>
        <a:spcPct val="0"/>
      </a:spcAft>
      <a:buClr>
        <a:srgbClr val="ED7A00"/>
      </a:buClr>
      <a:buSzPct val="80000"/>
      <a:buFont typeface="Times New Roman" panose="02020603050405020304" pitchFamily="18" charset="0"/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20000"/>
      </a:spcBef>
      <a:spcAft>
        <a:spcPct val="0"/>
      </a:spcAft>
      <a:buClr>
        <a:srgbClr val="ED7A00"/>
      </a:buClr>
      <a:buSzPct val="80000"/>
      <a:buFont typeface="Times New Roman" panose="02020603050405020304" pitchFamily="18" charset="0"/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20000"/>
      </a:spcBef>
      <a:spcAft>
        <a:spcPct val="0"/>
      </a:spcAft>
      <a:buClr>
        <a:srgbClr val="ED7A00"/>
      </a:buClr>
      <a:buSzPct val="80000"/>
      <a:buFont typeface="Times New Roman" panose="02020603050405020304" pitchFamily="18" charset="0"/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rgbClr val="0C2577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3DB11"/>
    <a:srgbClr val="00B9E4"/>
    <a:srgbClr val="D4F252"/>
    <a:srgbClr val="143DC2"/>
    <a:srgbClr val="A3FFFF"/>
    <a:srgbClr val="FFF863"/>
    <a:srgbClr val="FF4141"/>
    <a:srgbClr val="0C25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660"/>
  </p:normalViewPr>
  <p:slideViewPr>
    <p:cSldViewPr>
      <p:cViewPr varScale="1">
        <p:scale>
          <a:sx n="114" d="100"/>
          <a:sy n="114" d="100"/>
        </p:scale>
        <p:origin x="1524" y="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>
            <a:extLst>
              <a:ext uri="{FF2B5EF4-FFF2-40B4-BE49-F238E27FC236}">
                <a16:creationId xmlns:a16="http://schemas.microsoft.com/office/drawing/2014/main" id="{71A81946-1E9C-B2F7-41B6-D1F34CF297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1306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b="1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307203" name="Rectangle 3">
            <a:extLst>
              <a:ext uri="{FF2B5EF4-FFF2-40B4-BE49-F238E27FC236}">
                <a16:creationId xmlns:a16="http://schemas.microsoft.com/office/drawing/2014/main" id="{83F4CF13-A52D-9F9A-04E2-7485CC35953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33813" y="0"/>
            <a:ext cx="2913062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b="1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307204" name="Rectangle 4">
            <a:extLst>
              <a:ext uri="{FF2B5EF4-FFF2-40B4-BE49-F238E27FC236}">
                <a16:creationId xmlns:a16="http://schemas.microsoft.com/office/drawing/2014/main" id="{2832B17E-25AC-33B8-D1F6-DD35C08C37C6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17050"/>
            <a:ext cx="2913063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b="1"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307205" name="Rectangle 5">
            <a:extLst>
              <a:ext uri="{FF2B5EF4-FFF2-40B4-BE49-F238E27FC236}">
                <a16:creationId xmlns:a16="http://schemas.microsoft.com/office/drawing/2014/main" id="{7E63189D-0406-8C6D-CE9E-2966B69CAA2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33813" y="9417050"/>
            <a:ext cx="2913062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b="1">
                <a:solidFill>
                  <a:schemeClr val="tx1"/>
                </a:solidFill>
              </a:defRPr>
            </a:lvl1pPr>
          </a:lstStyle>
          <a:p>
            <a:fld id="{E00BF111-CC99-428A-BE15-9B7C2150626E}" type="slidenum">
              <a:rPr lang="en-US" altLang="en-GB"/>
              <a:pPr/>
              <a:t>‹#›</a:t>
            </a:fld>
            <a:endParaRPr lang="en-US" alt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78CD847D-01FF-CA70-2164-BDB2CE2F9A7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321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054E1078-CF59-1A6F-A6A1-11D2B613FF6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36988" y="0"/>
            <a:ext cx="29321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FFD66558-57CE-EA15-BD8A-4F0E851CC73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08050" y="742950"/>
            <a:ext cx="4953000" cy="37147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D7121F5E-CBE2-E052-34B1-78A76622B5E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3288" y="4706938"/>
            <a:ext cx="4962525" cy="4456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GB" noProof="0"/>
              <a:t>Click to edit Master text styles</a:t>
            </a:r>
          </a:p>
          <a:p>
            <a:pPr lvl="1"/>
            <a:r>
              <a:rPr lang="en-US" altLang="en-GB" noProof="0"/>
              <a:t>Second level</a:t>
            </a:r>
          </a:p>
          <a:p>
            <a:pPr lvl="2"/>
            <a:r>
              <a:rPr lang="en-US" altLang="en-GB" noProof="0"/>
              <a:t>Third level</a:t>
            </a:r>
          </a:p>
          <a:p>
            <a:pPr lvl="3"/>
            <a:r>
              <a:rPr lang="en-US" altLang="en-GB" noProof="0"/>
              <a:t>Fourth level</a:t>
            </a:r>
          </a:p>
          <a:p>
            <a:pPr lvl="4"/>
            <a:r>
              <a:rPr lang="en-US" altLang="en-GB" noProof="0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4E1205C-D171-8502-C774-39A4E2AE38E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10700"/>
            <a:ext cx="2932113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mtClean="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endParaRPr lang="en-US" altLang="en-GB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8CB32DD3-209E-899E-46F2-3B481022A8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36988" y="9410700"/>
            <a:ext cx="2932112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>
                <a:solidFill>
                  <a:schemeClr val="tx1"/>
                </a:solidFill>
              </a:defRPr>
            </a:lvl1pPr>
          </a:lstStyle>
          <a:p>
            <a:fld id="{8013150F-C848-4C1C-A302-D52DA7D92CC4}" type="slidenum">
              <a:rPr lang="en-US" altLang="en-GB"/>
              <a:pPr/>
              <a:t>‹#›</a:t>
            </a:fld>
            <a:endParaRPr lang="en-US" alt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ahoma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0" descr="20100414 Low Res RGB">
            <a:extLst>
              <a:ext uri="{FF2B5EF4-FFF2-40B4-BE49-F238E27FC236}">
                <a16:creationId xmlns:a16="http://schemas.microsoft.com/office/drawing/2014/main" id="{C68BF698-7398-E7FE-E9A3-C01D6E737F6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6238" y="333375"/>
            <a:ext cx="4987925" cy="50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11" descr="20100414 Low Res RGB">
            <a:extLst>
              <a:ext uri="{FF2B5EF4-FFF2-40B4-BE49-F238E27FC236}">
                <a16:creationId xmlns:a16="http://schemas.microsoft.com/office/drawing/2014/main" id="{268CF993-7601-42C0-CE9B-9F8EC7A9D88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48" b="-13126"/>
          <a:stretch>
            <a:fillRect/>
          </a:stretch>
        </p:blipFill>
        <p:spPr bwMode="auto">
          <a:xfrm>
            <a:off x="8507413" y="6232525"/>
            <a:ext cx="57626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10">
            <a:extLst>
              <a:ext uri="{FF2B5EF4-FFF2-40B4-BE49-F238E27FC236}">
                <a16:creationId xmlns:a16="http://schemas.microsoft.com/office/drawing/2014/main" id="{3DDD7A67-15FB-E338-EDA6-523C715CE79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8575" y="6623050"/>
            <a:ext cx="61928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sz="800" dirty="0">
                <a:solidFill>
                  <a:srgbClr val="000000"/>
                </a:solidFill>
                <a:latin typeface="Verdana" pitchFamily="34" charset="0"/>
              </a:rPr>
              <a:t>© OPEX Resources Ltd. 2022</a:t>
            </a:r>
          </a:p>
        </p:txBody>
      </p:sp>
      <p:sp>
        <p:nvSpPr>
          <p:cNvPr id="5294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495300" y="2971800"/>
            <a:ext cx="8153400" cy="1143000"/>
          </a:xfrm>
        </p:spPr>
        <p:txBody>
          <a:bodyPr wrap="none" lIns="91440" tIns="45720" rIns="91440"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br>
              <a:rPr lang="en-GB"/>
            </a:br>
            <a:endParaRPr lang="en-GB"/>
          </a:p>
        </p:txBody>
      </p:sp>
      <p:sp>
        <p:nvSpPr>
          <p:cNvPr id="52941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495300" y="4267200"/>
            <a:ext cx="6400800" cy="1752600"/>
          </a:xfrm>
        </p:spPr>
        <p:txBody>
          <a:bodyPr rIns="91440"/>
          <a:lstStyle>
            <a:lvl1pPr marL="0" indent="0">
              <a:buFont typeface="Monotype Sorts" pitchFamily="2" charset="2"/>
              <a:buNone/>
              <a:defRPr/>
            </a:lvl1pPr>
          </a:lstStyle>
          <a:p>
            <a:r>
              <a:rPr lang="en-GB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9945391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30588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76253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3713" y="1295400"/>
            <a:ext cx="3790950" cy="3535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37063" y="1295400"/>
            <a:ext cx="3792537" cy="3535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94780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1454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31418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96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670917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45265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4749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4963" y="215900"/>
            <a:ext cx="2063750" cy="461486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3713" y="215900"/>
            <a:ext cx="6038850" cy="461486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9776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47D83CE5-0EC3-7D37-B2AC-98F10580D3B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9913" y="215900"/>
            <a:ext cx="8178800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</a:t>
            </a:r>
            <a:br>
              <a:rPr lang="en-GB" altLang="en-US"/>
            </a:br>
            <a:r>
              <a:rPr lang="en-GB" altLang="en-US"/>
              <a:t>Master title style	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83A4533-A18F-177B-F7B9-7FA3619D84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93713" y="1295400"/>
            <a:ext cx="7735887" cy="3535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</p:txBody>
      </p:sp>
      <p:sp>
        <p:nvSpPr>
          <p:cNvPr id="528388" name="Line 4">
            <a:extLst>
              <a:ext uri="{FF2B5EF4-FFF2-40B4-BE49-F238E27FC236}">
                <a16:creationId xmlns:a16="http://schemas.microsoft.com/office/drawing/2014/main" id="{69CA9940-67D1-59B7-F88F-3DBFC5707652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584200" y="990600"/>
            <a:ext cx="7875588" cy="0"/>
          </a:xfrm>
          <a:prstGeom prst="line">
            <a:avLst/>
          </a:prstGeom>
          <a:noFill/>
          <a:ln w="22225">
            <a:solidFill>
              <a:schemeClr val="tx1"/>
            </a:solidFill>
            <a:round/>
            <a:headEnd/>
            <a:tailEnd/>
          </a:ln>
          <a:effectLst/>
        </p:spPr>
        <p:txBody>
          <a:bodyPr lIns="36000" tIns="36000" rIns="36000" bIns="36000" anchor="ctr"/>
          <a:lstStyle/>
          <a:p>
            <a:pPr>
              <a:defRPr/>
            </a:pPr>
            <a:endParaRPr lang="en-GB"/>
          </a:p>
        </p:txBody>
      </p:sp>
      <p:pic>
        <p:nvPicPr>
          <p:cNvPr id="1029" name="Picture 9" descr="20100414 Low Res RGB">
            <a:extLst>
              <a:ext uri="{FF2B5EF4-FFF2-40B4-BE49-F238E27FC236}">
                <a16:creationId xmlns:a16="http://schemas.microsoft.com/office/drawing/2014/main" id="{234F9B80-87F8-0151-E32F-DE1ADDFA809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448" b="-13126"/>
          <a:stretch>
            <a:fillRect/>
          </a:stretch>
        </p:blipFill>
        <p:spPr bwMode="auto">
          <a:xfrm>
            <a:off x="8507413" y="6232525"/>
            <a:ext cx="576262" cy="574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28394" name="Text Box 10">
            <a:extLst>
              <a:ext uri="{FF2B5EF4-FFF2-40B4-BE49-F238E27FC236}">
                <a16:creationId xmlns:a16="http://schemas.microsoft.com/office/drawing/2014/main" id="{626E3DB1-9DBB-C1CC-8B0A-FC859849C2C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-28575" y="6623050"/>
            <a:ext cx="6192838" cy="214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en-GB" sz="800" dirty="0">
                <a:solidFill>
                  <a:srgbClr val="000000"/>
                </a:solidFill>
                <a:latin typeface="Verdana" pitchFamily="34" charset="0"/>
              </a:rPr>
              <a:t>© OPEX Resources Ltd. 2022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 b="1">
          <a:solidFill>
            <a:srgbClr val="0C2577"/>
          </a:solidFill>
          <a:latin typeface="Tahoma" pitchFamily="34" charset="0"/>
        </a:defRPr>
      </a:lvl9pPr>
    </p:titleStyle>
    <p:bodyStyle>
      <a:lvl1pPr marL="322263" indent="-322263" algn="l" rtl="0" eaLnBrk="0" fontAlgn="base" hangingPunct="0">
        <a:spcBef>
          <a:spcPts val="1200"/>
        </a:spcBef>
        <a:spcAft>
          <a:spcPct val="0"/>
        </a:spcAft>
        <a:buClr>
          <a:schemeClr val="accent1"/>
        </a:buClr>
        <a:buSzPct val="90000"/>
        <a:buFont typeface="Monotype Sorts" pitchFamily="2" charset="2"/>
        <a:buChar char="n"/>
        <a:defRPr sz="2000">
          <a:solidFill>
            <a:srgbClr val="0C2577"/>
          </a:solidFill>
          <a:latin typeface="+mn-lt"/>
          <a:ea typeface="+mn-ea"/>
          <a:cs typeface="+mn-cs"/>
        </a:defRPr>
      </a:lvl1pPr>
      <a:lvl2pPr marL="571500" indent="-247650" algn="l" rtl="0" eaLnBrk="0" fontAlgn="base" hangingPunct="0">
        <a:spcBef>
          <a:spcPts val="600"/>
        </a:spcBef>
        <a:spcAft>
          <a:spcPct val="0"/>
        </a:spcAft>
        <a:buClr>
          <a:schemeClr val="accent1"/>
        </a:buClr>
        <a:buSzPct val="70000"/>
        <a:buFont typeface="Monotype Sorts" pitchFamily="2" charset="2"/>
        <a:buChar char="n"/>
        <a:defRPr sz="2000">
          <a:solidFill>
            <a:srgbClr val="0C2577"/>
          </a:solidFill>
          <a:latin typeface="+mn-lt"/>
        </a:defRPr>
      </a:lvl2pPr>
      <a:lvl3pPr marL="754063" indent="-180975" algn="l" rtl="0" eaLnBrk="0" fontAlgn="base" hangingPunct="0">
        <a:spcBef>
          <a:spcPts val="300"/>
        </a:spcBef>
        <a:spcAft>
          <a:spcPts val="300"/>
        </a:spcAft>
        <a:buClr>
          <a:schemeClr val="accent1"/>
        </a:buClr>
        <a:buSzPct val="50000"/>
        <a:buFont typeface="Monotype Sorts" pitchFamily="2" charset="2"/>
        <a:buChar char="n"/>
        <a:defRPr sz="2000">
          <a:solidFill>
            <a:srgbClr val="0C2577"/>
          </a:solidFill>
          <a:latin typeface="+mn-lt"/>
        </a:defRPr>
      </a:lvl3pPr>
      <a:lvl4pPr marL="299085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340995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386715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432435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478155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523875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57A26C4F-8572-3204-9154-D43CC3ADC20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Fishbone Diagram Template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78">
            <a:extLst>
              <a:ext uri="{FF2B5EF4-FFF2-40B4-BE49-F238E27FC236}">
                <a16:creationId xmlns:a16="http://schemas.microsoft.com/office/drawing/2014/main" id="{9FA7BEE9-DEF2-537B-F633-9740D1EF87E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44575" y="4003675"/>
            <a:ext cx="6624638" cy="0"/>
          </a:xfrm>
          <a:prstGeom prst="line">
            <a:avLst/>
          </a:prstGeom>
          <a:noFill/>
          <a:ln w="3175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099" name="Rectangle 79">
            <a:extLst>
              <a:ext uri="{FF2B5EF4-FFF2-40B4-BE49-F238E27FC236}">
                <a16:creationId xmlns:a16="http://schemas.microsoft.com/office/drawing/2014/main" id="{62036C6C-532B-E13C-BB18-2519BAB7F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9213" y="3498850"/>
            <a:ext cx="1223962" cy="1081088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anchor="ctr"/>
          <a:lstStyle>
            <a:lvl1pPr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solidFill>
                  <a:schemeClr val="tx1"/>
                </a:solidFill>
                <a:latin typeface="Arial" panose="020B0604020202020204" pitchFamily="34" charset="0"/>
              </a:rPr>
              <a:t>Failure effect</a:t>
            </a:r>
          </a:p>
        </p:txBody>
      </p:sp>
      <p:sp>
        <p:nvSpPr>
          <p:cNvPr id="4100" name="Line 80">
            <a:extLst>
              <a:ext uri="{FF2B5EF4-FFF2-40B4-BE49-F238E27FC236}">
                <a16:creationId xmlns:a16="http://schemas.microsoft.com/office/drawing/2014/main" id="{FFEAF254-C4B9-A40E-ECD5-6138DEE85EAE}"/>
              </a:ext>
            </a:extLst>
          </p:cNvPr>
          <p:cNvSpPr>
            <a:spLocks noChangeShapeType="1"/>
          </p:cNvSpPr>
          <p:nvPr/>
        </p:nvSpPr>
        <p:spPr bwMode="auto">
          <a:xfrm>
            <a:off x="6157913" y="1700213"/>
            <a:ext cx="1223962" cy="2303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1" name="Line 81">
            <a:extLst>
              <a:ext uri="{FF2B5EF4-FFF2-40B4-BE49-F238E27FC236}">
                <a16:creationId xmlns:a16="http://schemas.microsoft.com/office/drawing/2014/main" id="{A8E8CE4C-9D7B-B698-3A1B-7765D504D99C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0200" y="1700213"/>
            <a:ext cx="1223963" cy="2303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2" name="Line 82">
            <a:extLst>
              <a:ext uri="{FF2B5EF4-FFF2-40B4-BE49-F238E27FC236}">
                <a16:creationId xmlns:a16="http://schemas.microsoft.com/office/drawing/2014/main" id="{B95E1016-910E-B5BC-8BA5-D5104D25A738}"/>
              </a:ext>
            </a:extLst>
          </p:cNvPr>
          <p:cNvSpPr>
            <a:spLocks noChangeShapeType="1"/>
          </p:cNvSpPr>
          <p:nvPr/>
        </p:nvSpPr>
        <p:spPr bwMode="auto">
          <a:xfrm>
            <a:off x="1981200" y="1700213"/>
            <a:ext cx="1223963" cy="2303462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3" name="Line 83">
            <a:extLst>
              <a:ext uri="{FF2B5EF4-FFF2-40B4-BE49-F238E27FC236}">
                <a16:creationId xmlns:a16="http://schemas.microsoft.com/office/drawing/2014/main" id="{2D72B44C-0DDB-6FF7-5608-C25ED1E3ABE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22963" y="4003675"/>
            <a:ext cx="1314450" cy="2087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04" name="Text Box 84">
            <a:extLst>
              <a:ext uri="{FF2B5EF4-FFF2-40B4-BE49-F238E27FC236}">
                <a16:creationId xmlns:a16="http://schemas.microsoft.com/office/drawing/2014/main" id="{3BECDEA4-D5D8-4137-FB6C-9344AAA0AA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239838"/>
            <a:ext cx="16573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solidFill>
                  <a:schemeClr val="tx1"/>
                </a:solidFill>
                <a:latin typeface="Arial" panose="020B0604020202020204" pitchFamily="34" charset="0"/>
              </a:rPr>
              <a:t>Measurement</a:t>
            </a:r>
          </a:p>
        </p:txBody>
      </p:sp>
      <p:sp>
        <p:nvSpPr>
          <p:cNvPr id="4105" name="Text Box 85">
            <a:extLst>
              <a:ext uri="{FF2B5EF4-FFF2-40B4-BE49-F238E27FC236}">
                <a16:creationId xmlns:a16="http://schemas.microsoft.com/office/drawing/2014/main" id="{39182BEF-C864-5329-A593-A7A23E19FB0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9263" y="1241425"/>
            <a:ext cx="2343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solidFill>
                  <a:schemeClr val="tx1"/>
                </a:solidFill>
                <a:latin typeface="Arial" panose="020B0604020202020204" pitchFamily="34" charset="0"/>
              </a:rPr>
              <a:t>Machine/Equipment</a:t>
            </a:r>
          </a:p>
        </p:txBody>
      </p:sp>
      <p:sp>
        <p:nvSpPr>
          <p:cNvPr id="4106" name="Text Box 86">
            <a:extLst>
              <a:ext uri="{FF2B5EF4-FFF2-40B4-BE49-F238E27FC236}">
                <a16:creationId xmlns:a16="http://schemas.microsoft.com/office/drawing/2014/main" id="{FEC44CB2-4133-C328-F361-9CBFBEF937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81650" y="1241425"/>
            <a:ext cx="9334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solidFill>
                  <a:schemeClr val="tx1"/>
                </a:solidFill>
                <a:latin typeface="Arial" panose="020B0604020202020204" pitchFamily="34" charset="0"/>
              </a:rPr>
              <a:t>People</a:t>
            </a:r>
          </a:p>
        </p:txBody>
      </p:sp>
      <p:sp>
        <p:nvSpPr>
          <p:cNvPr id="4107" name="Text Box 87">
            <a:extLst>
              <a:ext uri="{FF2B5EF4-FFF2-40B4-BE49-F238E27FC236}">
                <a16:creationId xmlns:a16="http://schemas.microsoft.com/office/drawing/2014/main" id="{9E1551E2-D784-9D67-3508-E28B48EF1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6013" y="6157913"/>
            <a:ext cx="11239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solidFill>
                  <a:schemeClr val="tx1"/>
                </a:solidFill>
                <a:latin typeface="Arial" panose="020B0604020202020204" pitchFamily="34" charset="0"/>
              </a:rPr>
              <a:t>Methods</a:t>
            </a:r>
          </a:p>
        </p:txBody>
      </p:sp>
      <p:sp>
        <p:nvSpPr>
          <p:cNvPr id="4108" name="Text Box 88">
            <a:extLst>
              <a:ext uri="{FF2B5EF4-FFF2-40B4-BE49-F238E27FC236}">
                <a16:creationId xmlns:a16="http://schemas.microsoft.com/office/drawing/2014/main" id="{786E316A-3CAA-E18E-C53B-F1283F4F90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32138" y="6157913"/>
            <a:ext cx="1581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solidFill>
                  <a:schemeClr val="tx1"/>
                </a:solidFill>
                <a:latin typeface="Arial" panose="020B0604020202020204" pitchFamily="34" charset="0"/>
              </a:rPr>
              <a:t>Environment</a:t>
            </a:r>
          </a:p>
        </p:txBody>
      </p:sp>
      <p:sp>
        <p:nvSpPr>
          <p:cNvPr id="4109" name="Text Box 89">
            <a:extLst>
              <a:ext uri="{FF2B5EF4-FFF2-40B4-BE49-F238E27FC236}">
                <a16:creationId xmlns:a16="http://schemas.microsoft.com/office/drawing/2014/main" id="{119E1B41-DDC1-ED16-9BBE-664037C26E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8463" y="6157913"/>
            <a:ext cx="1174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GB" altLang="en-US" sz="1800" b="1">
                <a:solidFill>
                  <a:schemeClr val="tx1"/>
                </a:solidFill>
                <a:latin typeface="Arial" panose="020B0604020202020204" pitchFamily="34" charset="0"/>
              </a:rPr>
              <a:t>Materials</a:t>
            </a:r>
          </a:p>
        </p:txBody>
      </p:sp>
      <p:sp>
        <p:nvSpPr>
          <p:cNvPr id="4110" name="Line 90">
            <a:extLst>
              <a:ext uri="{FF2B5EF4-FFF2-40B4-BE49-F238E27FC236}">
                <a16:creationId xmlns:a16="http://schemas.microsoft.com/office/drawing/2014/main" id="{75CCF2C3-951F-57B4-B760-68B0C08EFF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24300" y="4003675"/>
            <a:ext cx="1314450" cy="2087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1" name="Line 91">
            <a:extLst>
              <a:ext uri="{FF2B5EF4-FFF2-40B4-BE49-F238E27FC236}">
                <a16:creationId xmlns:a16="http://schemas.microsoft.com/office/drawing/2014/main" id="{E54B20AE-CD72-0BB1-37E5-A5301CCA7C1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1765300" y="4003675"/>
            <a:ext cx="1314450" cy="2087563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/>
            <a:tailEnd type="stealth" w="lg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4112" name="Text Box 92">
            <a:extLst>
              <a:ext uri="{FF2B5EF4-FFF2-40B4-BE49-F238E27FC236}">
                <a16:creationId xmlns:a16="http://schemas.microsoft.com/office/drawing/2014/main" id="{6FDD6BC7-00AA-D8E7-1403-330B174252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85750"/>
            <a:ext cx="7734300" cy="500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36000" tIns="36000" rIns="36000" bIns="36000">
            <a:spAutoFit/>
          </a:bodyPr>
          <a:lstStyle>
            <a:lvl1pPr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1pPr>
            <a:lvl2pPr marL="742950" indent="-28575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2pPr>
            <a:lvl3pPr marL="11430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3pPr>
            <a:lvl4pPr marL="16002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4pPr>
            <a:lvl5pPr marL="2057400" indent="-228600"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ED7A00"/>
              </a:buClr>
              <a:buSzPct val="80000"/>
              <a:buFont typeface="Times New Roman" panose="02020603050405020304" pitchFamily="18" charset="0"/>
              <a:defRPr sz="1200">
                <a:solidFill>
                  <a:srgbClr val="0C2577"/>
                </a:solidFill>
                <a:latin typeface="Tahoma" panose="020B0604030504040204" pitchFamily="34" charset="0"/>
              </a:defRPr>
            </a:lvl9pPr>
          </a:lstStyle>
          <a:p>
            <a:r>
              <a:rPr lang="en-GB" altLang="en-US" sz="2800"/>
              <a:t>Fishbone Diagram for……………………………………..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LOGO">
  <a:themeElements>
    <a:clrScheme name="">
      <a:dk1>
        <a:srgbClr val="0C2577"/>
      </a:dk1>
      <a:lt1>
        <a:srgbClr val="FFFFFF"/>
      </a:lt1>
      <a:dk2>
        <a:srgbClr val="0C2577"/>
      </a:dk2>
      <a:lt2>
        <a:srgbClr val="FFFFFF"/>
      </a:lt2>
      <a:accent1>
        <a:srgbClr val="B3DB11"/>
      </a:accent1>
      <a:accent2>
        <a:srgbClr val="FF0000"/>
      </a:accent2>
      <a:accent3>
        <a:srgbClr val="FFFFFF"/>
      </a:accent3>
      <a:accent4>
        <a:srgbClr val="091E65"/>
      </a:accent4>
      <a:accent5>
        <a:srgbClr val="D6EAAA"/>
      </a:accent5>
      <a:accent6>
        <a:srgbClr val="E70000"/>
      </a:accent6>
      <a:hlink>
        <a:srgbClr val="FFF200"/>
      </a:hlink>
      <a:folHlink>
        <a:srgbClr val="00A0C6"/>
      </a:folHlink>
    </a:clrScheme>
    <a:fontScheme name="NOLOGO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3DB1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ED7A00"/>
          </a:buClr>
          <a:buSzPct val="80000"/>
          <a:buFont typeface="Times New Roman" pitchFamily="18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rgbClr val="0C2577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B3DB11"/>
        </a:solidFill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36000" tIns="36000" rIns="36000" bIns="36000" numCol="1" anchor="ctr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20000"/>
          </a:spcBef>
          <a:spcAft>
            <a:spcPct val="0"/>
          </a:spcAft>
          <a:buClr>
            <a:srgbClr val="ED7A00"/>
          </a:buClr>
          <a:buSzPct val="80000"/>
          <a:buFont typeface="Times New Roman" pitchFamily="18" charset="0"/>
          <a:buNone/>
          <a:tabLst/>
          <a:defRPr kumimoji="0" lang="en-GB" sz="1200" b="0" i="0" u="none" strike="noStrike" cap="none" normalizeH="0" baseline="0" smtClean="0">
            <a:ln>
              <a:noFill/>
            </a:ln>
            <a:solidFill>
              <a:srgbClr val="0C2577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NOLOG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OLOGO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OLOGO 8">
        <a:dk1>
          <a:srgbClr val="0C2577"/>
        </a:dk1>
        <a:lt1>
          <a:srgbClr val="FFFFFF"/>
        </a:lt1>
        <a:dk2>
          <a:srgbClr val="0C2577"/>
        </a:dk2>
        <a:lt2>
          <a:srgbClr val="FFFFFF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91E65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17</Words>
  <Application>Microsoft Office PowerPoint</Application>
  <PresentationFormat>On-screen Show (4:3)</PresentationFormat>
  <Paragraphs>9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Monotype Sorts</vt:lpstr>
      <vt:lpstr>Tahoma</vt:lpstr>
      <vt:lpstr>Times New Roman</vt:lpstr>
      <vt:lpstr>Verdana</vt:lpstr>
      <vt:lpstr>NOLOGO</vt:lpstr>
      <vt:lpstr>Fishbone Diagram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Fishbone Diagram Template</dc:title>
  <dc:creator>Copyright OPEX Resources Ltd., 2010</dc:creator>
  <cp:lastModifiedBy>Quentin Brook</cp:lastModifiedBy>
  <cp:revision>26</cp:revision>
  <cp:lastPrinted>2001-03-19T14:52:54Z</cp:lastPrinted>
  <dcterms:created xsi:type="dcterms:W3CDTF">2002-04-14T09:54:26Z</dcterms:created>
  <dcterms:modified xsi:type="dcterms:W3CDTF">2022-12-02T09:41:44Z</dcterms:modified>
</cp:coreProperties>
</file>