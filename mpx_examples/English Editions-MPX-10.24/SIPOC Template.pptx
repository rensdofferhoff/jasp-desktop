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583" r:id="rId2"/>
    <p:sldId id="581" r:id="rId3"/>
  </p:sldIdLst>
  <p:sldSz cx="9144000" cy="6858000" type="screen4x3"/>
  <p:notesSz cx="67691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B11"/>
    <a:srgbClr val="00B9E4"/>
    <a:srgbClr val="D4F252"/>
    <a:srgbClr val="143DC2"/>
    <a:srgbClr val="A3FFFF"/>
    <a:srgbClr val="FFF863"/>
    <a:srgbClr val="FF4141"/>
    <a:srgbClr val="0C25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67CF020F-6147-BDBB-1F74-BDBE179C50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306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C5469703-A1F2-ED71-AEB4-746F1BC5CA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3813" y="0"/>
            <a:ext cx="2913062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CB4F7C99-99EA-72B1-61CA-629D6C99B5B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7050"/>
            <a:ext cx="291306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5" name="Rectangle 5">
            <a:extLst>
              <a:ext uri="{FF2B5EF4-FFF2-40B4-BE49-F238E27FC236}">
                <a16:creationId xmlns:a16="http://schemas.microsoft.com/office/drawing/2014/main" id="{C7FC7B7E-FF39-79DA-FAA8-23EB815D9CF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3813" y="9417050"/>
            <a:ext cx="2913062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b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B24A017-25FE-4117-8CFB-F6645AE8DB75}" type="slidenum">
              <a:rPr lang="en-US" altLang="en-GB"/>
              <a:pPr>
                <a:defRPr/>
              </a:pPr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87CCC68-A54C-2AAD-BB7A-5810A18A91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21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CE1CE03-2FB1-5F87-73FF-0FA474DAC62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6988" y="0"/>
            <a:ext cx="29321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2DD319-8677-E5BC-DCCF-B9B9B7E4EE2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080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47CFCA0-7659-B618-0CD3-3E9C3D565E8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288" y="4706938"/>
            <a:ext cx="4962525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noProof="0"/>
              <a:t>Click to edit Master text styles</a:t>
            </a:r>
          </a:p>
          <a:p>
            <a:pPr lvl="1"/>
            <a:r>
              <a:rPr lang="en-US" altLang="en-GB" noProof="0"/>
              <a:t>Second level</a:t>
            </a:r>
          </a:p>
          <a:p>
            <a:pPr lvl="2"/>
            <a:r>
              <a:rPr lang="en-US" altLang="en-GB" noProof="0"/>
              <a:t>Third level</a:t>
            </a:r>
          </a:p>
          <a:p>
            <a:pPr lvl="3"/>
            <a:r>
              <a:rPr lang="en-US" altLang="en-GB" noProof="0"/>
              <a:t>Fourth level</a:t>
            </a:r>
          </a:p>
          <a:p>
            <a:pPr lvl="4"/>
            <a:r>
              <a:rPr lang="en-US" alt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60C0376-50D2-CCA8-8AEF-69849FFFAB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321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F45A891-180C-B65A-4F69-EACDB99AE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6988" y="9410700"/>
            <a:ext cx="29321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30B401-A20B-4508-9F0D-FA2773F3BBB7}" type="slidenum">
              <a:rPr lang="en-US" altLang="en-GB"/>
              <a:pPr>
                <a:defRPr/>
              </a:pPr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20100414 Low Res RGB">
            <a:extLst>
              <a:ext uri="{FF2B5EF4-FFF2-40B4-BE49-F238E27FC236}">
                <a16:creationId xmlns:a16="http://schemas.microsoft.com/office/drawing/2014/main" id="{5CCD8EAE-CA59-0343-9256-AD01F049D9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333375"/>
            <a:ext cx="49879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 descr="20100414 Low Res RGB">
            <a:extLst>
              <a:ext uri="{FF2B5EF4-FFF2-40B4-BE49-F238E27FC236}">
                <a16:creationId xmlns:a16="http://schemas.microsoft.com/office/drawing/2014/main" id="{2EDECC47-6732-11BF-11FE-834D2CADAA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8" b="-13126"/>
          <a:stretch>
            <a:fillRect/>
          </a:stretch>
        </p:blipFill>
        <p:spPr bwMode="auto">
          <a:xfrm>
            <a:off x="8507413" y="6232525"/>
            <a:ext cx="5762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6">
            <a:extLst>
              <a:ext uri="{FF2B5EF4-FFF2-40B4-BE49-F238E27FC236}">
                <a16:creationId xmlns:a16="http://schemas.microsoft.com/office/drawing/2014/main" id="{7F7C1D04-452A-D4A9-D04D-F7A44EB511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8575" y="6623050"/>
            <a:ext cx="619283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800">
                <a:solidFill>
                  <a:srgbClr val="000000"/>
                </a:solidFill>
                <a:latin typeface="Verdana" panose="020B0604030504040204" pitchFamily="34" charset="0"/>
              </a:rPr>
              <a:t>© OPEX Resources Ltd. 2022</a:t>
            </a:r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" y="2971800"/>
            <a:ext cx="8153400" cy="1143000"/>
          </a:xfrm>
        </p:spPr>
        <p:txBody>
          <a:bodyPr wrap="none" lIns="91440" tIns="45720" rIns="91440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" y="4267200"/>
            <a:ext cx="6400800" cy="1752600"/>
          </a:xfrm>
        </p:spPr>
        <p:txBody>
          <a:bodyPr rIns="91440"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1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318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436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713" y="1295400"/>
            <a:ext cx="3790950" cy="3535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7063" y="1295400"/>
            <a:ext cx="3792537" cy="3535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5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8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79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28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908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721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32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215900"/>
            <a:ext cx="2063750" cy="4614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3713" y="215900"/>
            <a:ext cx="6038850" cy="4614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98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7B9E411-138B-8528-41A8-A9A54EE26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9913" y="215900"/>
            <a:ext cx="8178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</a:t>
            </a:r>
            <a:br>
              <a:rPr lang="en-GB" altLang="en-US"/>
            </a:br>
            <a:r>
              <a:rPr lang="en-GB" altLang="en-US"/>
              <a:t>Master title style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E16B86-FAFD-E876-AD19-407FB54AA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3713" y="1295400"/>
            <a:ext cx="7735887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2EAB496-C817-2F1E-6DF3-A407B442249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84200" y="990600"/>
            <a:ext cx="78755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en-GB"/>
          </a:p>
        </p:txBody>
      </p:sp>
      <p:sp>
        <p:nvSpPr>
          <p:cNvPr id="1029" name="Text Box 6">
            <a:extLst>
              <a:ext uri="{FF2B5EF4-FFF2-40B4-BE49-F238E27FC236}">
                <a16:creationId xmlns:a16="http://schemas.microsoft.com/office/drawing/2014/main" id="{A4608F8D-B513-8677-A5F5-FFBFC7F6F0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8575" y="6623050"/>
            <a:ext cx="6192838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800">
                <a:solidFill>
                  <a:srgbClr val="000000"/>
                </a:solidFill>
                <a:latin typeface="Verdana" panose="020B0604030504040204" pitchFamily="34" charset="0"/>
              </a:rPr>
              <a:t>© OPEX Resources Ltd. 2022</a:t>
            </a:r>
          </a:p>
        </p:txBody>
      </p:sp>
      <p:pic>
        <p:nvPicPr>
          <p:cNvPr id="1030" name="Picture 8" descr="20100414 Low Res RGB">
            <a:extLst>
              <a:ext uri="{FF2B5EF4-FFF2-40B4-BE49-F238E27FC236}">
                <a16:creationId xmlns:a16="http://schemas.microsoft.com/office/drawing/2014/main" id="{F6A7B6DA-5C9E-F12E-F916-7438488A4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8" b="-13126"/>
          <a:stretch>
            <a:fillRect/>
          </a:stretch>
        </p:blipFill>
        <p:spPr bwMode="auto">
          <a:xfrm>
            <a:off x="8507413" y="6232525"/>
            <a:ext cx="5762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9pPr>
    </p:titleStyle>
    <p:bodyStyle>
      <a:lvl1pPr marL="322263" indent="-322263" algn="l" rtl="0" eaLnBrk="0" fontAlgn="base" hangingPunct="0">
        <a:spcBef>
          <a:spcPts val="1200"/>
        </a:spcBef>
        <a:spcAft>
          <a:spcPct val="0"/>
        </a:spcAft>
        <a:buClr>
          <a:schemeClr val="accent1"/>
        </a:buClr>
        <a:buSzPct val="90000"/>
        <a:buFont typeface="Monotype Sorts" pitchFamily="2" charset="2"/>
        <a:buChar char="n"/>
        <a:defRPr sz="2000">
          <a:solidFill>
            <a:srgbClr val="0C2577"/>
          </a:solidFill>
          <a:latin typeface="+mn-lt"/>
          <a:ea typeface="+mn-ea"/>
          <a:cs typeface="+mn-cs"/>
        </a:defRPr>
      </a:lvl1pPr>
      <a:lvl2pPr marL="571500" indent="-2476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sz="2000">
          <a:solidFill>
            <a:srgbClr val="0C2577"/>
          </a:solidFill>
          <a:latin typeface="+mn-lt"/>
        </a:defRPr>
      </a:lvl2pPr>
      <a:lvl3pPr marL="754063" indent="-180975" algn="l" rtl="0" eaLnBrk="0" fontAlgn="base" hangingPunct="0">
        <a:spcBef>
          <a:spcPts val="300"/>
        </a:spcBef>
        <a:spcAft>
          <a:spcPts val="300"/>
        </a:spcAft>
        <a:buClr>
          <a:schemeClr val="accent1"/>
        </a:buClr>
        <a:buSzPct val="50000"/>
        <a:buFont typeface="Monotype Sorts" pitchFamily="2" charset="2"/>
        <a:buChar char="n"/>
        <a:defRPr sz="2000">
          <a:solidFill>
            <a:srgbClr val="0C2577"/>
          </a:solidFill>
          <a:latin typeface="+mn-lt"/>
        </a:defRPr>
      </a:lvl3pPr>
      <a:lvl4pPr marL="29908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340995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38671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43243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47815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52387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9F8CAB-B689-F0A8-52FA-8461856FE1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SIPOC High Level Process Map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92">
            <a:extLst>
              <a:ext uri="{FF2B5EF4-FFF2-40B4-BE49-F238E27FC236}">
                <a16:creationId xmlns:a16="http://schemas.microsoft.com/office/drawing/2014/main" id="{EA381EA4-0218-AC3F-45D7-2FD140205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85750"/>
            <a:ext cx="7961312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 sz="2800"/>
              <a:t>SIPOC Process Map for……………………………………..</a:t>
            </a:r>
          </a:p>
        </p:txBody>
      </p:sp>
      <p:graphicFrame>
        <p:nvGraphicFramePr>
          <p:cNvPr id="480349" name="Group 93">
            <a:extLst>
              <a:ext uri="{FF2B5EF4-FFF2-40B4-BE49-F238E27FC236}">
                <a16:creationId xmlns:a16="http://schemas.microsoft.com/office/drawing/2014/main" id="{E9D92368-C2D0-D3D8-0A50-607AFEDE1C7F}"/>
              </a:ext>
            </a:extLst>
          </p:cNvPr>
          <p:cNvGraphicFramePr>
            <a:graphicFrameLocks noGrp="1"/>
          </p:cNvGraphicFramePr>
          <p:nvPr/>
        </p:nvGraphicFramePr>
        <p:xfrm>
          <a:off x="781050" y="1412875"/>
          <a:ext cx="7467600" cy="4064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de-DE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C2577"/>
                          </a:solidFill>
                          <a:effectLst/>
                          <a:latin typeface="Tahoma" pitchFamily="34" charset="0"/>
                        </a:rPr>
                        <a:t>Suppliers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de-DE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C2577"/>
                          </a:solidFill>
                          <a:effectLst/>
                          <a:latin typeface="Tahoma" pitchFamily="34" charset="0"/>
                        </a:rPr>
                        <a:t>Inputs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de-DE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C2577"/>
                          </a:solidFill>
                          <a:effectLst/>
                          <a:latin typeface="Tahoma" pitchFamily="34" charset="0"/>
                        </a:rPr>
                        <a:t>Process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de-DE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C2577"/>
                          </a:solidFill>
                          <a:effectLst/>
                          <a:latin typeface="Tahoma" pitchFamily="34" charset="0"/>
                        </a:rPr>
                        <a:t>Outputs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r>
                        <a:rPr kumimoji="0" lang="de-DE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C2577"/>
                          </a:solidFill>
                          <a:effectLst/>
                          <a:latin typeface="Tahoma" pitchFamily="34" charset="0"/>
                        </a:rPr>
                        <a:t>Customers</a:t>
                      </a:r>
                      <a:endParaRPr kumimoji="0" lang="en-GB" sz="1600" b="1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C2577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36000" marR="36000" marT="36000" marB="3600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24" name="Rectangle 199">
            <a:extLst>
              <a:ext uri="{FF2B5EF4-FFF2-40B4-BE49-F238E27FC236}">
                <a16:creationId xmlns:a16="http://schemas.microsoft.com/office/drawing/2014/main" id="{48A3DEB9-BDD8-4310-D839-8AF9AB61F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50" y="2479675"/>
            <a:ext cx="1143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 b="1"/>
          </a:p>
        </p:txBody>
      </p:sp>
      <p:sp>
        <p:nvSpPr>
          <p:cNvPr id="6225" name="Rectangle 200">
            <a:extLst>
              <a:ext uri="{FF2B5EF4-FFF2-40B4-BE49-F238E27FC236}">
                <a16:creationId xmlns:a16="http://schemas.microsoft.com/office/drawing/2014/main" id="{170C14D9-9362-8BAF-5A5A-66ADC7A62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918075"/>
            <a:ext cx="12192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/>
          </a:p>
        </p:txBody>
      </p:sp>
      <p:sp>
        <p:nvSpPr>
          <p:cNvPr id="6226" name="Rectangle 201">
            <a:extLst>
              <a:ext uri="{FF2B5EF4-FFF2-40B4-BE49-F238E27FC236}">
                <a16:creationId xmlns:a16="http://schemas.microsoft.com/office/drawing/2014/main" id="{B059BBAC-8415-6794-8B37-69929B09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4918075"/>
            <a:ext cx="12192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/>
          </a:p>
        </p:txBody>
      </p:sp>
      <p:sp>
        <p:nvSpPr>
          <p:cNvPr id="6227" name="Line 202">
            <a:extLst>
              <a:ext uri="{FF2B5EF4-FFF2-40B4-BE49-F238E27FC236}">
                <a16:creationId xmlns:a16="http://schemas.microsoft.com/office/drawing/2014/main" id="{BEC7C894-E897-1E07-983E-75F5F5E17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2990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en-GB"/>
          </a:p>
        </p:txBody>
      </p:sp>
      <p:sp>
        <p:nvSpPr>
          <p:cNvPr id="6228" name="Rectangle 203">
            <a:extLst>
              <a:ext uri="{FF2B5EF4-FFF2-40B4-BE49-F238E27FC236}">
                <a16:creationId xmlns:a16="http://schemas.microsoft.com/office/drawing/2014/main" id="{2553367A-1EF7-47F4-95A7-FECB5ECA5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4918075"/>
            <a:ext cx="12192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/>
          </a:p>
        </p:txBody>
      </p:sp>
      <p:sp>
        <p:nvSpPr>
          <p:cNvPr id="6229" name="Line 204">
            <a:extLst>
              <a:ext uri="{FF2B5EF4-FFF2-40B4-BE49-F238E27FC236}">
                <a16:creationId xmlns:a16="http://schemas.microsoft.com/office/drawing/2014/main" id="{55BE5D08-316E-C28D-FE7A-803EC3FC4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52990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en-GB"/>
          </a:p>
        </p:txBody>
      </p:sp>
      <p:sp>
        <p:nvSpPr>
          <p:cNvPr id="6230" name="Rectangle 205">
            <a:extLst>
              <a:ext uri="{FF2B5EF4-FFF2-40B4-BE49-F238E27FC236}">
                <a16:creationId xmlns:a16="http://schemas.microsoft.com/office/drawing/2014/main" id="{FF40EEF0-EF4F-FC2F-FCFB-CC057DFBA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4918075"/>
            <a:ext cx="12192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/>
          </a:p>
        </p:txBody>
      </p:sp>
      <p:sp>
        <p:nvSpPr>
          <p:cNvPr id="6231" name="Line 206">
            <a:extLst>
              <a:ext uri="{FF2B5EF4-FFF2-40B4-BE49-F238E27FC236}">
                <a16:creationId xmlns:a16="http://schemas.microsoft.com/office/drawing/2014/main" id="{FB187571-973A-1CAA-9503-0EDE5D0BA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52990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en-GB"/>
          </a:p>
        </p:txBody>
      </p:sp>
      <p:sp>
        <p:nvSpPr>
          <p:cNvPr id="6232" name="Rectangle 207">
            <a:extLst>
              <a:ext uri="{FF2B5EF4-FFF2-40B4-BE49-F238E27FC236}">
                <a16:creationId xmlns:a16="http://schemas.microsoft.com/office/drawing/2014/main" id="{D6602F6E-3F15-BFA5-E7A9-6F52CF5C4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0" y="4918075"/>
            <a:ext cx="12192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1400"/>
          </a:p>
        </p:txBody>
      </p:sp>
      <p:sp>
        <p:nvSpPr>
          <p:cNvPr id="6233" name="Line 208">
            <a:extLst>
              <a:ext uri="{FF2B5EF4-FFF2-40B4-BE49-F238E27FC236}">
                <a16:creationId xmlns:a16="http://schemas.microsoft.com/office/drawing/2014/main" id="{4850D76F-9CF6-40A0-F4C7-9B79990BA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0850" y="5299075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LOGO">
  <a:themeElements>
    <a:clrScheme name="">
      <a:dk1>
        <a:srgbClr val="0C2577"/>
      </a:dk1>
      <a:lt1>
        <a:srgbClr val="FFFFFF"/>
      </a:lt1>
      <a:dk2>
        <a:srgbClr val="0C2577"/>
      </a:dk2>
      <a:lt2>
        <a:srgbClr val="FFFFFF"/>
      </a:lt2>
      <a:accent1>
        <a:srgbClr val="B3DB11"/>
      </a:accent1>
      <a:accent2>
        <a:srgbClr val="FF0000"/>
      </a:accent2>
      <a:accent3>
        <a:srgbClr val="FFFFFF"/>
      </a:accent3>
      <a:accent4>
        <a:srgbClr val="091E65"/>
      </a:accent4>
      <a:accent5>
        <a:srgbClr val="D6EAAA"/>
      </a:accent5>
      <a:accent6>
        <a:srgbClr val="E70000"/>
      </a:accent6>
      <a:hlink>
        <a:srgbClr val="FFF200"/>
      </a:hlink>
      <a:folHlink>
        <a:srgbClr val="00A0C6"/>
      </a:folHlink>
    </a:clrScheme>
    <a:fontScheme name="NOLOG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3DB1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ED7A00"/>
          </a:buClr>
          <a:buSzPct val="80000"/>
          <a:buFont typeface="Times New Roman" pitchFamily="18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C2577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3DB1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ED7A00"/>
          </a:buClr>
          <a:buSzPct val="80000"/>
          <a:buFont typeface="Times New Roman" pitchFamily="18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C2577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O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LOG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8">
        <a:dk1>
          <a:srgbClr val="0C2577"/>
        </a:dk1>
        <a:lt1>
          <a:srgbClr val="FFFFFF"/>
        </a:lt1>
        <a:dk2>
          <a:srgbClr val="0C2577"/>
        </a:dk2>
        <a:lt2>
          <a:srgbClr val="FFFFFF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91E65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Tahoma</vt:lpstr>
      <vt:lpstr>Times New Roman</vt:lpstr>
      <vt:lpstr>Arial</vt:lpstr>
      <vt:lpstr>Monotype Sorts</vt:lpstr>
      <vt:lpstr>Verdana</vt:lpstr>
      <vt:lpstr>NOLOGO</vt:lpstr>
      <vt:lpstr>SIPOC High Level Process Map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SIPOC Template</dc:title>
  <dc:creator>OPEX Resources</dc:creator>
  <dc:description>Copyright OPEX Resources Ltd. 2014</dc:description>
  <cp:lastModifiedBy>Quentin Brook</cp:lastModifiedBy>
  <cp:revision>24</cp:revision>
  <cp:lastPrinted>2001-03-19T14:52:54Z</cp:lastPrinted>
  <dcterms:created xsi:type="dcterms:W3CDTF">2002-04-14T09:54:26Z</dcterms:created>
  <dcterms:modified xsi:type="dcterms:W3CDTF">2022-12-02T10:19:13Z</dcterms:modified>
</cp:coreProperties>
</file>